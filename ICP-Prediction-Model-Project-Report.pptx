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yne"/>
      <p:regular r:id="rId201314"/>
    </p:embeddedFont>
    <p:embeddedFont>
      <p:font typeface="Syne Bold"/>
      <p:regular r:id="rId201315"/>
    </p:embeddedFont>
    <p:embeddedFont>
      <p:font typeface="Syne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jpeg"/><Relationship Id="rId10" Type="http://schemas.openxmlformats.org/officeDocument/2006/relationships/image" Target="../media/image-10-10.jpeg"/><Relationship Id="rId11" Type="http://schemas.openxmlformats.org/officeDocument/2006/relationships/image" Target="../media/image-10-11.jpe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4894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ICP Prediction Model — Project Report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90435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Identify high-intent student leads so sales teams prioritize outreach and convert more course enrollments.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721820"/>
            <a:ext cx="1364720" cy="287139"/>
          </a:xfrm>
          <a:prstGeom prst="roundRect">
            <a:avLst>
              <a:gd name="adj" fmla="val 22118"/>
            </a:avLst>
          </a:prstGeom>
          <a:solidFill>
            <a:srgbClr val="33480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65" y="4789785"/>
            <a:ext cx="151206" cy="151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3573" y="4778474"/>
            <a:ext cx="15206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AUGUST 2026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692534" y="4721820"/>
            <a:ext cx="205883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A9F00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938" y="4789785"/>
            <a:ext cx="151206" cy="151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32747" y="4778474"/>
            <a:ext cx="22148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 SHAHBAZ LUKMAN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04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Business Problem &amp; Objective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05434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68476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3169047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Large volumes of student leads with varying intent waste human follow-up time and delay high-intent prospects.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4265315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749602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Predict whether a lead will purchase within 30 days and rank prospects so sales focus on those most likely to convert.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15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Target &amp; What ICP Represents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87476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40188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Target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10570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purchased_within_30_days — binary: 1 if purchased within 30 days, else 0.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187476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2401888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Profile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4708" y="2810570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Age, education, occupation, city.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18830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03324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Intent &amp; Behavior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4441924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Course enquiry, lead source, page views, brochure downloads, email/WhatsApp responses.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818830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4708" y="403324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Engagement &amp; Recency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404708" y="4441924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Follow-ups, webinar/demo attendance, video watches, days since last activity.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47379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54780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741491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71003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Leakage control: post-purchase features like purchased_course were excluded — only pre-purchase signals used.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93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Data Overview &amp; EDA Highlights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30488"/>
            <a:ext cx="3315014" cy="25891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96" y="2219325"/>
            <a:ext cx="3315014" cy="30376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6517" y="2176760"/>
            <a:ext cx="3315014" cy="3969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Dataset: 12,000 leads. Clear class imbalance: ~8,500 non-purchasers vs ~3,500 purchasers.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Observed course purchase rates (approx.): Accounting 30.82%, Finance 30.24%, Digital Marketing 29.85%, Business Analytics 28.41%, Data Science 27.81% — modest spread, so course alone is insufficient for ICP.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EDA takeaway: combine profile + engagement signals for better prediction.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280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Feature Groups &amp; Preprocessing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5213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521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Profile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60812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Age, education, occupation, city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5213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7521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Intent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160812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Course enquiry, lead source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5213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7521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Web Behavior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160812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Website/course/pricing views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41254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3841254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Communication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545211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Email opens, WhatsApp, calls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3841254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384125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Recency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249936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Days since last activity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1475" y="50602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Preprocessing: numeric median imputation + standardization; categorical most-frequent imputation + one-hot encoding; all embedded in a single pipeline to avoid train/serve mismatch.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285"/>
            <a:ext cx="10868745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Model Comparison &amp; Selection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2483445"/>
            <a:ext cx="2516819" cy="1993503"/>
          </a:xfrm>
          <a:prstGeom prst="roundRect">
            <a:avLst>
              <a:gd name="adj" fmla="val 38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879" y="2672854"/>
            <a:ext cx="21380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879" y="3422253"/>
            <a:ext cx="21380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CV ROC-AUC 0.834 • PR-AUC 0.695 • High recall (0.759)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5593" y="2483445"/>
            <a:ext cx="2516918" cy="1993503"/>
          </a:xfrm>
          <a:prstGeom prst="roundRect">
            <a:avLst>
              <a:gd name="adj" fmla="val 38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4997" y="2672854"/>
            <a:ext cx="2138111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44997" y="3422253"/>
            <a:ext cx="213811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CV ROC-AUC 0.825 • Balanced precision/recall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654252"/>
            <a:ext cx="5211037" cy="1130598"/>
          </a:xfrm>
          <a:prstGeom prst="roundRect">
            <a:avLst>
              <a:gd name="adj" fmla="val 6802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879" y="4843661"/>
            <a:ext cx="483222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XGBoost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879" y="5307012"/>
            <a:ext cx="483222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CV ROC-AUC 0.823 • Chosen for tuning (PR-AUC objective)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5533" y="2105323"/>
            <a:ext cx="521103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Tuning: RandomizedSearchCV over 25 parameter combos with 5-fold stratified CV, optimizing average precision. Final evaluation uses the tuned XGBoost model.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533" y="3170138"/>
            <a:ext cx="5211037" cy="2952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470"/>
            <a:ext cx="10868745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Final Test Performance (Tuned XGBoost)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2023566"/>
            <a:ext cx="53456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879" y="221297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879" y="2605385"/>
            <a:ext cx="4966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0.7954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4448" y="2023566"/>
            <a:ext cx="53457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3851" y="221297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73851" y="2605385"/>
            <a:ext cx="496696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0.7089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3260527"/>
            <a:ext cx="53456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879" y="344993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Recall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879" y="3842345"/>
            <a:ext cx="4966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0.5100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4448" y="3260527"/>
            <a:ext cx="53457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851" y="344993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ROC-AUC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851" y="3842345"/>
            <a:ext cx="496696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0.8362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4497487"/>
            <a:ext cx="53456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879" y="468689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PR-AUC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879" y="5079305"/>
            <a:ext cx="496686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0.6951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4448" y="4497487"/>
            <a:ext cx="5345773" cy="1059656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851" y="468689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Brier Score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73851" y="5079305"/>
            <a:ext cx="496696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0.1426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1475" y="5756672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Interpretation: 0.836 ROC-AUC indicates useful ranking; at 0.50 threshold ~71% of predicted purchasers were correct while capturing ~51% of actual purchasers.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04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Confusion Matrix &amp; Trade-offs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05434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3017838"/>
            <a:ext cx="350421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Counts at 0.50 threshold: TN=1,551 • FP=147 • FN=344 • TP=358.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Business implication: 344 false negatives are the largest opportunity — lower threshold to capture more purchasers if missing buyers is costly; raise threshold to conserve counselor capacity.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210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Lead Scoring, Threshold Strategy &amp; Workflow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657"/>
            <a:ext cx="3987105" cy="3987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8290" y="2570063"/>
            <a:ext cx="582786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Threshold examples from analysis: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18290" y="2994124"/>
            <a:ext cx="5218280" cy="148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0.40 → Precision 63.8%, Recall 64.2% (~29.5% leads)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0.50 → Precision 70.9%, Recall 51.0% (~21.0% leads) [current default]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0.70 → Precision 82.1%, Recall 26.8% (~9.5% leads) — useful when capacity is very limited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8290" y="4670425"/>
            <a:ext cx="5218280" cy="936625"/>
          </a:xfrm>
          <a:prstGeom prst="roundRect">
            <a:avLst>
              <a:gd name="adj" fmla="val 7946"/>
            </a:avLst>
          </a:prstGeom>
          <a:solidFill>
            <a:srgbClr val="54780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91" y="4916190"/>
            <a:ext cx="221451" cy="177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94142" y="4864100"/>
            <a:ext cx="4465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Recommendation: use capacity-based cutoffs and re-evaluate periodically.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67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Recommendations, Deployment &amp; Conclusion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13408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5964" y="984250"/>
            <a:ext cx="141681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929" y="124410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Rank then Contact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5929" y="142001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Sort leads by score and allocate human effort top-down.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119461" y="913408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3951" y="984250"/>
            <a:ext cx="141681" cy="1416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124410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Capacity-Based Thresholds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13915" y="1420019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Adjust cutoff by counselor capacity, contact cost and lead value.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661475" y="1675110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5964" y="1745952"/>
            <a:ext cx="141681" cy="1416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929" y="200580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Re-score Dynamically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55929" y="2181721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Update scores as new website/email/call/webinar activity arrives.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6119461" y="1675110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951" y="1745952"/>
            <a:ext cx="141681" cy="1416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3915" y="200580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Monitor Outcomes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213915" y="2181721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Track precision, recall, PR-AUC and revenue by score band after deployment.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661475" y="244266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Conclusion: The tuned XGBoost model (ROC-AUC 0.836; precision 70.9%; recall 51.0% at 0.50) is a practical prioritization engine — use it to find the best customer, prioritize the right conversations, and iteratively improve the ICP using measured outcomes.</a:t>
            </a:r>
            <a:endParaRPr lang="en-US" sz="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825" y="2673152"/>
            <a:ext cx="3568214" cy="3568303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1641" y="2673152"/>
            <a:ext cx="3568313" cy="3568402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557" y="2673152"/>
            <a:ext cx="3568313" cy="3568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2026-09-02T11:31:06Z</dcterms:created>
  <dcterms:modified xsi:type="dcterms:W3CDTF">2026-09-02T11:31:06Z</dcterms:modified>
</cp:coreProperties>
</file>